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1" i="0" u="none" strike="noStrike">
                <a:solidFill>
                  <a:srgbClr val="1E2761"/>
                </a:solidFill>
                <a:latin typeface="Arial"/>
              </a:rPr>
              <a:t>Total Revenue by Gender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E91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1E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90D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1" i="0" u="none" strike="noStrike">
                <a:solidFill>
                  <a:srgbClr val="1E2761"/>
                </a:solidFill>
                <a:latin typeface="Arial"/>
              </a:rPr>
              <a:t>Revenue by Age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1" i="0" u="none" strike="noStrike">
                <a:solidFill>
                  <a:srgbClr val="1E2761"/>
                </a:solidFill>
                <a:latin typeface="Arial"/>
              </a:rPr>
              <a:t>Customer Segments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4A90D9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1" i="0" u="none" strike="noStrike">
                <a:solidFill>
                  <a:srgbClr val="1E2761"/>
                </a:solidFill>
                <a:latin typeface="Arial"/>
              </a:rPr>
              <a:t>Subscription Status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Non-Subscribers</c:v>
                </c:pt>
                <c:pt idx="1">
                  <c:v>Subscribers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2847</c:v>
                </c:pt>
                <c:pt idx="1">
                  <c:v>1053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1" i="0" u="none" strike="noStrike">
                <a:solidFill>
                  <a:srgbClr val="1E2761"/>
                </a:solidFill>
                <a:latin typeface="Arial"/>
              </a:rPr>
              <a:t>Avg Purchase by Shipping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 (USD)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Standard</c:v>
                  </c:pt>
                  <c:pt idx="1">
                    <c:v>Express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58.46</c:v>
                </c:pt>
                <c:pt idx="1">
                  <c:v>60.48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5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1" i="0" u="none" strike="noStrike">
                <a:solidFill>
                  <a:srgbClr val="1E2761"/>
                </a:solidFill>
                <a:latin typeface="Arial"/>
              </a:rPr>
              <a:t>Top 5 Products by Avg Rating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Gloves</c:v>
                  </c:pt>
                  <c:pt idx="1">
                    <c:v>Sandals</c:v>
                  </c:pt>
                  <c:pt idx="2">
                    <c:v>Boots</c:v>
                  </c:pt>
                  <c:pt idx="3">
                    <c:v>Hat</c:v>
                  </c:pt>
                  <c:pt idx="4">
                    <c:v>Skirt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3.7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1" i="0" u="none" strike="noStrike">
                <a:solidFill>
                  <a:srgbClr val="1E2761"/>
                </a:solidFill>
                <a:latin typeface="Arial"/>
              </a:rPr>
              <a:t>Most Discount-Dependent Products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(%)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Hat</c:v>
                  </c:pt>
                  <c:pt idx="1">
                    <c:v>Sneakers</c:v>
                  </c:pt>
                  <c:pt idx="2">
                    <c:v>Coat</c:v>
                  </c:pt>
                  <c:pt idx="3">
                    <c:v>Sweater</c:v>
                  </c:pt>
                  <c:pt idx="4">
                    <c:v>Pants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4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1" i="0" u="none" strike="noStrike">
                <a:solidFill>
                  <a:srgbClr val="1E2761"/>
                </a:solidFill>
                <a:latin typeface="Arial"/>
              </a:rPr>
              <a:t>Repeat Buyers by Subscription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Buyers (&gt;5 purchases)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Non-Subscribers</c:v>
                  </c:pt>
                  <c:pt idx="1">
                    <c:v>Subscribers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2518</c:v>
                </c:pt>
                <c:pt idx="1">
                  <c:v>958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457200"/>
            <a:ext cx="3200400" cy="3200400"/>
          </a:xfrm>
          <a:prstGeom prst="ellipse">
            <a:avLst/>
          </a:prstGeom>
          <a:solidFill>
            <a:srgbClr val="0F1840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914400"/>
            <a:ext cx="2286000" cy="2286000"/>
          </a:xfrm>
          <a:prstGeom prst="ellipse">
            <a:avLst/>
          </a:prstGeom>
          <a:solidFill>
            <a:srgbClr val="4A90D9">
              <a:alpha val="3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3,900 Transactions Across Product Categories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1840"/>
          </a:solidFill>
          <a:ln w="12700">
            <a:solidFill>
              <a:srgbClr val="0F1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407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4407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43200" y="4709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4407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4709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4407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32320" y="4709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7772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Uncover insights into spending patterns, customer segments, product preferences, and subscription behavior to guide strategic business decisions.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269748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clean, and standardize 3,900-row dataset using Python &amp; pandas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691640"/>
            <a:ext cx="269748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691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22402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633472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10 structured queries in PostgreSQL to answer key business questions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69164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691640"/>
            <a:ext cx="269748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691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72200" y="22402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2633472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Power BI dashboard to present findings visually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192024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13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658368"/>
            <a:ext cx="192024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713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12618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658368"/>
            <a:ext cx="192024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713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12618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(Review Rating)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658368"/>
            <a:ext cx="192024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713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03136" y="12618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(USD)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011680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011680"/>
            <a:ext cx="274320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011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487168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82112" y="2011680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2011680"/>
            <a:ext cx="274320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82112" y="2011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Details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9272" y="2487168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Purchased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Season, Size, Color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9904" y="2011680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2011680"/>
            <a:ext cx="274320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9904" y="2011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Behavior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27064" y="2487168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Purchases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Spending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59436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937760" y="594360"/>
          <a:ext cx="3840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206240"/>
            <a:ext cx="841248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48640" y="42336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Male customers generate 2.1× more revenue ($157,890 vs $75,191). Young Adults lead across age groups with $62,143 in total revenue.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594360"/>
          <a:ext cx="4389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658368"/>
            <a:ext cx="374904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0" y="658368"/>
            <a:ext cx="164592" cy="10241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21808" y="7040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21808" y="1097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customers (79.9%) — &gt;10 previous purchases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0" y="1847088"/>
            <a:ext cx="374904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847088"/>
            <a:ext cx="164592" cy="10241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21808" y="18928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21808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 customers (18.0%) — 3–10 previous purchases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0" y="3035808"/>
            <a:ext cx="374904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0" y="3035808"/>
            <a:ext cx="164592" cy="10241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21808" y="30815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21808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customers (2.1%) — &lt;3 previous purchases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4297680"/>
            <a:ext cx="37490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66360" y="4315968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customers are already Loyal — focus on converting Returning customers.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Shipping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59436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59436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657600"/>
            <a:ext cx="201168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274320" y="37033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274320" y="4114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450592" y="3657600"/>
            <a:ext cx="201168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2450592" y="37033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$59.49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450592" y="4114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Avg Spend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26864" y="3657600"/>
            <a:ext cx="201168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626864" y="37033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$59.87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26864" y="4114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 Avg Spend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803136" y="3657600"/>
            <a:ext cx="201168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803136" y="37033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803136" y="4114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Premium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594360"/>
          <a:ext cx="44805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937760" y="594360"/>
          <a:ext cx="38404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840480"/>
            <a:ext cx="850392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57200" y="3867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Gloves rank highest in customer satisfaction (3.86). Hat leads discount dependency at exactly 50% of purchases — review margin impact carefully.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per Category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21792"/>
            <a:ext cx="19933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21792"/>
            <a:ext cx="1993392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2179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" y="1234440"/>
            <a:ext cx="1773936" cy="86868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2801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" y="12801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orders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" y="2313432"/>
            <a:ext cx="1773936" cy="86868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235915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" y="23591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Sunglasses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" y="27249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orders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" y="3392424"/>
            <a:ext cx="1773936" cy="86868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343814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" y="34381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" y="38039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orders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04872" y="621792"/>
            <a:ext cx="19933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04872" y="621792"/>
            <a:ext cx="1993392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04872" y="62179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14600" y="1234440"/>
            <a:ext cx="1773936" cy="86868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12801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80360" y="12801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8036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orders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14600" y="2313432"/>
            <a:ext cx="1773936" cy="86868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235915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80360" y="23591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80360" y="27249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orders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14600" y="3392424"/>
            <a:ext cx="1773936" cy="86868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343814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80360" y="34381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880360" y="38039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orders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81144" y="621792"/>
            <a:ext cx="19933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81144" y="621792"/>
            <a:ext cx="1993392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81144" y="62179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90872" y="1234440"/>
            <a:ext cx="1773936" cy="86868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90872" y="12801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56632" y="12801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56632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orders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90872" y="2313432"/>
            <a:ext cx="1773936" cy="86868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90872" y="235915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56632" y="23591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56632" y="27249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orders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90872" y="3392424"/>
            <a:ext cx="1773936" cy="86868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90872" y="343814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56632" y="34381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56632" y="38039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orders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757416" y="621792"/>
            <a:ext cx="19933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57416" y="621792"/>
            <a:ext cx="1993392" cy="4754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57416" y="62179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867144" y="1234440"/>
            <a:ext cx="1773936" cy="86868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67144" y="12801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232904" y="12801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232904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orders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67144" y="2313432"/>
            <a:ext cx="1773936" cy="86868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67144" y="235915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232904" y="23591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232904" y="27249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orders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867144" y="3392424"/>
            <a:ext cx="1773936" cy="86868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67144" y="343814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232904" y="34381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Hoodie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232904" y="38039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orders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Behavior Deep Dive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594360"/>
          <a:ext cx="4389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59436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937760" y="594360"/>
            <a:ext cx="384048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37760" y="594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High-Spending Discount Users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37760" y="117043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07492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used discounts yet spent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average purchase amount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25786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21.5% of all customers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3493008"/>
            <a:ext cx="4160520" cy="8961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1480" y="35387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of repeat buyers: 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385876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non-subscribers — a key conversion opportunity for subscription programs.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3493008"/>
            <a:ext cx="4160520" cy="8961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92040" y="35387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high-value deal seekers: 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92040" y="385876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discounts can coexist with above-average spending when targeted well.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Actions Based on Data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1024128"/>
          </a:xfrm>
          <a:prstGeom prst="rect">
            <a:avLst/>
          </a:prstGeom>
          <a:solidFill>
            <a:srgbClr val="0F1840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475488" cy="10241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475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1521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149047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27% are subscribers. Promote exclusive benefits — early access, free express shipping, loyalty rewards.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267712"/>
            <a:ext cx="4160520" cy="1024128"/>
          </a:xfrm>
          <a:prstGeom prst="rect">
            <a:avLst/>
          </a:prstGeom>
          <a:solidFill>
            <a:srgbClr val="0F1840"/>
          </a:solidFill>
          <a:ln w="1905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67712"/>
            <a:ext cx="475488" cy="102412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67712"/>
            <a:ext cx="475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6968" y="23408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Programs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6968" y="267919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repeat buyers to migrate Returning (701) customers into Loyal segment.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456432"/>
            <a:ext cx="4160520" cy="1024128"/>
          </a:xfrm>
          <a:prstGeom prst="rect">
            <a:avLst/>
          </a:prstGeom>
          <a:solidFill>
            <a:srgbClr val="0F1840"/>
          </a:solidFill>
          <a:ln w="19050">
            <a:solidFill>
              <a:srgbClr val="F7B73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456432"/>
            <a:ext cx="475488" cy="102412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456432"/>
            <a:ext cx="475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" y="35295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Policy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" y="386791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Hat, Sneakers, and Coat see ~50% discount rates. Balance sales lift with margin protection.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078992"/>
            <a:ext cx="4160520" cy="1024128"/>
          </a:xfrm>
          <a:prstGeom prst="rect">
            <a:avLst/>
          </a:prstGeom>
          <a:solidFill>
            <a:srgbClr val="0F1840"/>
          </a:solidFill>
          <a:ln w="19050">
            <a:solidFill>
              <a:srgbClr val="A29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078992"/>
            <a:ext cx="475488" cy="1024128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078992"/>
            <a:ext cx="475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13248" y="11521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13248" y="149047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top-rated items (Gloves 3.86, Sandals 3.84) in marketing campaigns.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267712"/>
            <a:ext cx="4160520" cy="1024128"/>
          </a:xfrm>
          <a:prstGeom prst="rect">
            <a:avLst/>
          </a:prstGeom>
          <a:solidFill>
            <a:srgbClr val="0F1840"/>
          </a:solidFill>
          <a:ln w="19050">
            <a:solidFill>
              <a:srgbClr val="FD79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267712"/>
            <a:ext cx="475488" cy="1024128"/>
          </a:xfrm>
          <a:prstGeom prst="rect">
            <a:avLst/>
          </a:prstGeom>
          <a:solidFill>
            <a:srgbClr val="FD79A8"/>
          </a:solidFill>
          <a:ln w="12700">
            <a:solidFill>
              <a:srgbClr val="FD79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267712"/>
            <a:ext cx="475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13248" y="23408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Marketing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13248" y="267919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Young Adults (highest revenue $62K) and Express shipping users (higher avg spend).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840"/>
          </a:solidFill>
          <a:ln w="12700">
            <a:solidFill>
              <a:srgbClr val="0F18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|  End of Report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PptxGenJS</dc:creator>
  <cp:lastModifiedBy>PptxGenJS</cp:lastModifiedBy>
  <cp:revision>1</cp:revision>
  <dcterms:created xsi:type="dcterms:W3CDTF">2026-03-16T05:28:03Z</dcterms:created>
  <dcterms:modified xsi:type="dcterms:W3CDTF">2026-03-16T05:28:03Z</dcterms:modified>
</cp:coreProperties>
</file>